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62" r:id="rId3"/>
    <p:sldId id="707" r:id="rId4"/>
    <p:sldId id="257" r:id="rId5"/>
    <p:sldId id="904" r:id="rId6"/>
    <p:sldId id="906" r:id="rId7"/>
    <p:sldId id="909" r:id="rId8"/>
    <p:sldId id="907" r:id="rId9"/>
    <p:sldId id="908" r:id="rId10"/>
    <p:sldId id="913" r:id="rId11"/>
    <p:sldId id="910" r:id="rId12"/>
    <p:sldId id="911" r:id="rId13"/>
    <p:sldId id="914" r:id="rId14"/>
    <p:sldId id="91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D0D30D-EC65-47AF-9136-79A662EB554B}" v="11" dt="2026-10-01T07:19:48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6" d="100"/>
          <a:sy n="76" d="100"/>
        </p:scale>
        <p:origin x="94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usha 2420030212" userId="ddd9dfe5907d4fe1" providerId="LiveId" clId="{8F3A85C7-8F77-4966-BEA5-6A117767633F}"/>
    <pc:docChg chg="undo custSel addSld modSld sldOrd">
      <pc:chgData name="Vinusha 2420030212" userId="ddd9dfe5907d4fe1" providerId="LiveId" clId="{8F3A85C7-8F77-4966-BEA5-6A117767633F}" dt="2026-10-01T07:24:19.927" v="196" actId="478"/>
      <pc:docMkLst>
        <pc:docMk/>
      </pc:docMkLst>
      <pc:sldChg chg="delSp modSp mod">
        <pc:chgData name="Vinusha 2420030212" userId="ddd9dfe5907d4fe1" providerId="LiveId" clId="{8F3A85C7-8F77-4966-BEA5-6A117767633F}" dt="2026-10-01T07:24:19.927" v="196" actId="478"/>
        <pc:sldMkLst>
          <pc:docMk/>
          <pc:sldMk cId="2247602601" sldId="262"/>
        </pc:sldMkLst>
        <pc:spChg chg="del">
          <ac:chgData name="Vinusha 2420030212" userId="ddd9dfe5907d4fe1" providerId="LiveId" clId="{8F3A85C7-8F77-4966-BEA5-6A117767633F}" dt="2026-10-01T07:24:19.927" v="196" actId="478"/>
          <ac:spMkLst>
            <pc:docMk/>
            <pc:sldMk cId="2247602601" sldId="262"/>
            <ac:spMk id="16" creationId="{500C0830-A1CA-96AE-68D2-18C57ABE4802}"/>
          </ac:spMkLst>
        </pc:spChg>
        <pc:spChg chg="mod">
          <ac:chgData name="Vinusha 2420030212" userId="ddd9dfe5907d4fe1" providerId="LiveId" clId="{8F3A85C7-8F77-4966-BEA5-6A117767633F}" dt="2026-10-01T07:24:17.229" v="195" actId="20577"/>
          <ac:spMkLst>
            <pc:docMk/>
            <pc:sldMk cId="2247602601" sldId="262"/>
            <ac:spMk id="17" creationId="{D25BC1A0-FDE4-1557-375E-6E0BD69BC77B}"/>
          </ac:spMkLst>
        </pc:spChg>
      </pc:sldChg>
      <pc:sldChg chg="addSp delSp modSp new mod chgLayout">
        <pc:chgData name="Vinusha 2420030212" userId="ddd9dfe5907d4fe1" providerId="LiveId" clId="{8F3A85C7-8F77-4966-BEA5-6A117767633F}" dt="2026-10-01T07:23:26.064" v="186" actId="22"/>
        <pc:sldMkLst>
          <pc:docMk/>
          <pc:sldMk cId="1665975419" sldId="910"/>
        </pc:sldMkLst>
        <pc:spChg chg="del">
          <ac:chgData name="Vinusha 2420030212" userId="ddd9dfe5907d4fe1" providerId="LiveId" clId="{8F3A85C7-8F77-4966-BEA5-6A117767633F}" dt="2026-10-01T07:16:06.517" v="1" actId="700"/>
          <ac:spMkLst>
            <pc:docMk/>
            <pc:sldMk cId="1665975419" sldId="910"/>
            <ac:spMk id="2" creationId="{397E4978-C4D1-4757-152D-DA576E22DE70}"/>
          </ac:spMkLst>
        </pc:spChg>
        <pc:spChg chg="del">
          <ac:chgData name="Vinusha 2420030212" userId="ddd9dfe5907d4fe1" providerId="LiveId" clId="{8F3A85C7-8F77-4966-BEA5-6A117767633F}" dt="2026-10-01T07:16:06.517" v="1" actId="700"/>
          <ac:spMkLst>
            <pc:docMk/>
            <pc:sldMk cId="1665975419" sldId="910"/>
            <ac:spMk id="3" creationId="{BDAEF9BD-D3A6-73AD-E58E-4653F0BA6B1D}"/>
          </ac:spMkLst>
        </pc:spChg>
        <pc:spChg chg="add mod ord">
          <ac:chgData name="Vinusha 2420030212" userId="ddd9dfe5907d4fe1" providerId="LiveId" clId="{8F3A85C7-8F77-4966-BEA5-6A117767633F}" dt="2026-10-01T07:19:41.595" v="79" actId="113"/>
          <ac:spMkLst>
            <pc:docMk/>
            <pc:sldMk cId="1665975419" sldId="910"/>
            <ac:spMk id="4" creationId="{A28F5FAC-81E5-8E2C-0DBA-B591556C1172}"/>
          </ac:spMkLst>
        </pc:spChg>
        <pc:spChg chg="add mod ord">
          <ac:chgData name="Vinusha 2420030212" userId="ddd9dfe5907d4fe1" providerId="LiveId" clId="{8F3A85C7-8F77-4966-BEA5-6A117767633F}" dt="2026-10-01T07:20:05.966" v="93" actId="5793"/>
          <ac:spMkLst>
            <pc:docMk/>
            <pc:sldMk cId="1665975419" sldId="910"/>
            <ac:spMk id="5" creationId="{AAABAE81-89EF-22F4-64B6-5A596748C4EC}"/>
          </ac:spMkLst>
        </pc:spChg>
        <pc:picChg chg="add">
          <ac:chgData name="Vinusha 2420030212" userId="ddd9dfe5907d4fe1" providerId="LiveId" clId="{8F3A85C7-8F77-4966-BEA5-6A117767633F}" dt="2026-10-01T07:23:26.064" v="186" actId="22"/>
          <ac:picMkLst>
            <pc:docMk/>
            <pc:sldMk cId="1665975419" sldId="910"/>
            <ac:picMk id="7" creationId="{F29DA0C1-8B79-048A-C2BC-492EB222D93F}"/>
          </ac:picMkLst>
        </pc:picChg>
      </pc:sldChg>
      <pc:sldChg chg="addSp delSp modSp new mod">
        <pc:chgData name="Vinusha 2420030212" userId="ddd9dfe5907d4fe1" providerId="LiveId" clId="{8F3A85C7-8F77-4966-BEA5-6A117767633F}" dt="2026-10-01T07:23:30.945" v="187" actId="22"/>
        <pc:sldMkLst>
          <pc:docMk/>
          <pc:sldMk cId="2391061922" sldId="911"/>
        </pc:sldMkLst>
        <pc:spChg chg="mod">
          <ac:chgData name="Vinusha 2420030212" userId="ddd9dfe5907d4fe1" providerId="LiveId" clId="{8F3A85C7-8F77-4966-BEA5-6A117767633F}" dt="2026-10-01T07:20:13.432" v="94" actId="113"/>
          <ac:spMkLst>
            <pc:docMk/>
            <pc:sldMk cId="2391061922" sldId="911"/>
            <ac:spMk id="2" creationId="{3FB69978-D351-87E1-E06B-D51FF735C994}"/>
          </ac:spMkLst>
        </pc:spChg>
        <pc:spChg chg="del">
          <ac:chgData name="Vinusha 2420030212" userId="ddd9dfe5907d4fe1" providerId="LiveId" clId="{8F3A85C7-8F77-4966-BEA5-6A117767633F}" dt="2026-10-01T07:18:30.635" v="69"/>
          <ac:spMkLst>
            <pc:docMk/>
            <pc:sldMk cId="2391061922" sldId="911"/>
            <ac:spMk id="3" creationId="{68F9DBBC-5F4B-0086-B0CE-64814A7365DB}"/>
          </ac:spMkLst>
        </pc:spChg>
        <pc:graphicFrameChg chg="add mod">
          <ac:chgData name="Vinusha 2420030212" userId="ddd9dfe5907d4fe1" providerId="LiveId" clId="{8F3A85C7-8F77-4966-BEA5-6A117767633F}" dt="2026-10-01T07:18:30.635" v="69"/>
          <ac:graphicFrameMkLst>
            <pc:docMk/>
            <pc:sldMk cId="2391061922" sldId="911"/>
            <ac:graphicFrameMk id="4" creationId="{85125C7F-AF55-2353-DC2D-B958381C3C69}"/>
          </ac:graphicFrameMkLst>
        </pc:graphicFrameChg>
        <pc:picChg chg="add">
          <ac:chgData name="Vinusha 2420030212" userId="ddd9dfe5907d4fe1" providerId="LiveId" clId="{8F3A85C7-8F77-4966-BEA5-6A117767633F}" dt="2026-10-01T07:23:30.945" v="187" actId="22"/>
          <ac:picMkLst>
            <pc:docMk/>
            <pc:sldMk cId="2391061922" sldId="911"/>
            <ac:picMk id="6" creationId="{EAEFEE5B-9A74-0FB3-7F71-4D32042F5088}"/>
          </ac:picMkLst>
        </pc:picChg>
      </pc:sldChg>
      <pc:sldChg chg="addSp modSp new mod">
        <pc:chgData name="Vinusha 2420030212" userId="ddd9dfe5907d4fe1" providerId="LiveId" clId="{8F3A85C7-8F77-4966-BEA5-6A117767633F}" dt="2026-10-01T07:24:03.403" v="193" actId="2711"/>
        <pc:sldMkLst>
          <pc:docMk/>
          <pc:sldMk cId="2430944441" sldId="912"/>
        </pc:sldMkLst>
        <pc:spChg chg="mod">
          <ac:chgData name="Vinusha 2420030212" userId="ddd9dfe5907d4fe1" providerId="LiveId" clId="{8F3A85C7-8F77-4966-BEA5-6A117767633F}" dt="2026-10-01T07:23:11.804" v="184" actId="113"/>
          <ac:spMkLst>
            <pc:docMk/>
            <pc:sldMk cId="2430944441" sldId="912"/>
            <ac:spMk id="2" creationId="{55F1EEE9-8125-B693-DAED-09055C383B4E}"/>
          </ac:spMkLst>
        </pc:spChg>
        <pc:spChg chg="mod">
          <ac:chgData name="Vinusha 2420030212" userId="ddd9dfe5907d4fe1" providerId="LiveId" clId="{8F3A85C7-8F77-4966-BEA5-6A117767633F}" dt="2026-10-01T07:24:03.403" v="193" actId="2711"/>
          <ac:spMkLst>
            <pc:docMk/>
            <pc:sldMk cId="2430944441" sldId="912"/>
            <ac:spMk id="3" creationId="{8AA3DD53-41A8-83A4-5860-74084DC26864}"/>
          </ac:spMkLst>
        </pc:spChg>
        <pc:picChg chg="add">
          <ac:chgData name="Vinusha 2420030212" userId="ddd9dfe5907d4fe1" providerId="LiveId" clId="{8F3A85C7-8F77-4966-BEA5-6A117767633F}" dt="2026-10-01T07:23:40.576" v="189" actId="22"/>
          <ac:picMkLst>
            <pc:docMk/>
            <pc:sldMk cId="2430944441" sldId="912"/>
            <ac:picMk id="5" creationId="{EC85CBE1-BBD0-ECF0-84AF-1D7B10F4B751}"/>
          </ac:picMkLst>
        </pc:picChg>
      </pc:sldChg>
      <pc:sldChg chg="addSp modSp new mod ord">
        <pc:chgData name="Vinusha 2420030212" userId="ddd9dfe5907d4fe1" providerId="LiveId" clId="{8F3A85C7-8F77-4966-BEA5-6A117767633F}" dt="2026-10-01T07:23:21.810" v="185" actId="22"/>
        <pc:sldMkLst>
          <pc:docMk/>
          <pc:sldMk cId="3029875051" sldId="913"/>
        </pc:sldMkLst>
        <pc:spChg chg="mod">
          <ac:chgData name="Vinusha 2420030212" userId="ddd9dfe5907d4fe1" providerId="LiveId" clId="{8F3A85C7-8F77-4966-BEA5-6A117767633F}" dt="2026-10-01T07:19:48.162" v="82"/>
          <ac:spMkLst>
            <pc:docMk/>
            <pc:sldMk cId="3029875051" sldId="913"/>
            <ac:spMk id="2" creationId="{5F544D7D-8004-DE25-C56F-3505F9D8C190}"/>
          </ac:spMkLst>
        </pc:spChg>
        <pc:spChg chg="mod">
          <ac:chgData name="Vinusha 2420030212" userId="ddd9dfe5907d4fe1" providerId="LiveId" clId="{8F3A85C7-8F77-4966-BEA5-6A117767633F}" dt="2026-10-01T07:17:43.858" v="65" actId="27636"/>
          <ac:spMkLst>
            <pc:docMk/>
            <pc:sldMk cId="3029875051" sldId="913"/>
            <ac:spMk id="3" creationId="{C899E5AB-CD64-25C1-0F6F-8154CC3D94AD}"/>
          </ac:spMkLst>
        </pc:spChg>
        <pc:spChg chg="mod">
          <ac:chgData name="Vinusha 2420030212" userId="ddd9dfe5907d4fe1" providerId="LiveId" clId="{8F3A85C7-8F77-4966-BEA5-6A117767633F}" dt="2026-10-01T07:19:57.636" v="92" actId="20577"/>
          <ac:spMkLst>
            <pc:docMk/>
            <pc:sldMk cId="3029875051" sldId="913"/>
            <ac:spMk id="4" creationId="{CA3F96ED-9105-5DEB-1AA8-739D959A132C}"/>
          </ac:spMkLst>
        </pc:spChg>
        <pc:picChg chg="add">
          <ac:chgData name="Vinusha 2420030212" userId="ddd9dfe5907d4fe1" providerId="LiveId" clId="{8F3A85C7-8F77-4966-BEA5-6A117767633F}" dt="2026-10-01T07:23:21.810" v="185" actId="22"/>
          <ac:picMkLst>
            <pc:docMk/>
            <pc:sldMk cId="3029875051" sldId="913"/>
            <ac:picMk id="6" creationId="{090F0736-881E-72DE-1E5E-837211A2A76F}"/>
          </ac:picMkLst>
        </pc:picChg>
      </pc:sldChg>
      <pc:sldChg chg="addSp modSp new mod">
        <pc:chgData name="Vinusha 2420030212" userId="ddd9dfe5907d4fe1" providerId="LiveId" clId="{8F3A85C7-8F77-4966-BEA5-6A117767633F}" dt="2026-10-01T07:23:34.776" v="188" actId="22"/>
        <pc:sldMkLst>
          <pc:docMk/>
          <pc:sldMk cId="1276535856" sldId="914"/>
        </pc:sldMkLst>
        <pc:spChg chg="mod">
          <ac:chgData name="Vinusha 2420030212" userId="ddd9dfe5907d4fe1" providerId="LiveId" clId="{8F3A85C7-8F77-4966-BEA5-6A117767633F}" dt="2026-10-01T07:20:19.525" v="128" actId="20577"/>
          <ac:spMkLst>
            <pc:docMk/>
            <pc:sldMk cId="1276535856" sldId="914"/>
            <ac:spMk id="2" creationId="{510650C9-7ACB-FA78-5DE3-A5B50F3D2D96}"/>
          </ac:spMkLst>
        </pc:spChg>
        <pc:spChg chg="mod">
          <ac:chgData name="Vinusha 2420030212" userId="ddd9dfe5907d4fe1" providerId="LiveId" clId="{8F3A85C7-8F77-4966-BEA5-6A117767633F}" dt="2026-10-01T07:20:36.035" v="134" actId="123"/>
          <ac:spMkLst>
            <pc:docMk/>
            <pc:sldMk cId="1276535856" sldId="914"/>
            <ac:spMk id="3" creationId="{D8916DD5-D044-5022-069D-8C7C261EBFF4}"/>
          </ac:spMkLst>
        </pc:spChg>
        <pc:picChg chg="add">
          <ac:chgData name="Vinusha 2420030212" userId="ddd9dfe5907d4fe1" providerId="LiveId" clId="{8F3A85C7-8F77-4966-BEA5-6A117767633F}" dt="2026-10-01T07:23:34.776" v="188" actId="22"/>
          <ac:picMkLst>
            <pc:docMk/>
            <pc:sldMk cId="1276535856" sldId="914"/>
            <ac:picMk id="5" creationId="{0D075920-428B-A651-4E00-D22DAE717C3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2" qsCatId="3D" csTypeId="urn:microsoft.com/office/officeart/2005/8/colors/colorful1#2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2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03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pp16104882?utm_source=chatgpt.com" TargetMode="External"/><Relationship Id="rId2" Type="http://schemas.openxmlformats.org/officeDocument/2006/relationships/hyperlink" Target="https://research.monash.edu/en/publications/artificial-intelligence-and-edge-computing-for-machine-maintenanc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469007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A.Sharvani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2420090052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K.Anjali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2420030170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M.Vinusha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- 2420030212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1 October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>
                <a:solidFill>
                  <a:schemeClr val="bg1"/>
                </a:solidFill>
              </a:rPr>
              <a:t>Edge AI Predictive Maintenance Controller for Industry</a:t>
            </a:r>
            <a:b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RTOS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 October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047999" y="2993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5D3D15-C7B2-CCD4-664B-297E59940D83}"/>
              </a:ext>
            </a:extLst>
          </p:cNvPr>
          <p:cNvSpPr txBox="1"/>
          <p:nvPr/>
        </p:nvSpPr>
        <p:spPr>
          <a:xfrm>
            <a:off x="1056966" y="1438034"/>
            <a:ext cx="100780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In Industry 5.0, machines continuously generate data such as </a:t>
            </a:r>
            <a:r>
              <a:rPr lang="en-IN" sz="2400" b="1" dirty="0"/>
              <a:t>temperature, vibration, and current</a:t>
            </a:r>
            <a:r>
              <a:rPr lang="en-IN" sz="2400" dirty="0"/>
              <a:t>. If abnormal changes in these values are not detected in time, they can cause machine failures, production delays, and increased maintenance costs.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The </a:t>
            </a:r>
            <a:r>
              <a:rPr lang="en-IN" sz="2400" b="1" dirty="0"/>
              <a:t>Edge AI Predictive Maintenance Controller</a:t>
            </a:r>
            <a:r>
              <a:rPr lang="en-IN" sz="2400" dirty="0"/>
              <a:t> aims to solve this problem by monitoring machine data in real time and predicting possible failures before they happen. </a:t>
            </a:r>
            <a:r>
              <a:rPr lang="en-IN" sz="2400" b="1" dirty="0"/>
              <a:t>Python and TensorFlow Lite</a:t>
            </a:r>
            <a:r>
              <a:rPr lang="en-IN" sz="2400" dirty="0"/>
              <a:t> will be used for data processing and the AI model, while </a:t>
            </a:r>
            <a:r>
              <a:rPr lang="en-IN" sz="2400" b="1" dirty="0"/>
              <a:t>MQTT</a:t>
            </a:r>
            <a:r>
              <a:rPr lang="en-IN" sz="2400" dirty="0"/>
              <a:t> will transfer sensor data between system components. </a:t>
            </a:r>
            <a:r>
              <a:rPr lang="en-IN" sz="2400" b="1" dirty="0"/>
              <a:t>RT-Linux</a:t>
            </a:r>
            <a:r>
              <a:rPr lang="en-IN" sz="2400" dirty="0"/>
              <a:t> will support real-time processing.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Docker</a:t>
            </a:r>
            <a:r>
              <a:rPr lang="en-IN" sz="2400" dirty="0"/>
              <a:t> will provide a consistent software environment, and </a:t>
            </a:r>
            <a:r>
              <a:rPr lang="en-IN" sz="2400" b="1" dirty="0"/>
              <a:t>Grafana</a:t>
            </a:r>
            <a:r>
              <a:rPr lang="en-IN" sz="2400" dirty="0"/>
              <a:t> will display machine conditions and prediction results through a dashboard.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35F7-C011-19BA-BBDC-7F1009171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         Objectives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6297-07A9-5CBB-A053-561B0EA5D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70574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To simulate temperature, vibration, and current sensor data from industrial machines. </a:t>
            </a:r>
          </a:p>
          <a:p>
            <a:pPr lvl="0"/>
            <a:r>
              <a:rPr lang="en-IN" dirty="0"/>
              <a:t>To monitor machine conditions in real time using RTOS concepts. </a:t>
            </a:r>
          </a:p>
          <a:p>
            <a:pPr lvl="0"/>
            <a:r>
              <a:rPr lang="en-IN" dirty="0"/>
              <a:t>To implement task scheduling and prioritization for timely sensor-data processing. </a:t>
            </a:r>
          </a:p>
          <a:p>
            <a:pPr lvl="0"/>
            <a:r>
              <a:rPr lang="en-IN" dirty="0"/>
              <a:t>To use AI/ML techniques to detect abnormal machine </a:t>
            </a:r>
            <a:r>
              <a:rPr lang="en-IN" dirty="0" err="1"/>
              <a:t>behavior</a:t>
            </a:r>
            <a:r>
              <a:rPr lang="en-IN" dirty="0"/>
              <a:t> and predict possible failures. </a:t>
            </a:r>
          </a:p>
          <a:p>
            <a:pPr lvl="0"/>
            <a:r>
              <a:rPr lang="en-IN" dirty="0"/>
              <a:t>To use queues, semaphores, and mutexes for communication and synchronization between RTOS tasks. </a:t>
            </a:r>
          </a:p>
          <a:p>
            <a:pPr lvl="0"/>
            <a:r>
              <a:rPr lang="en-IN" dirty="0"/>
              <a:t>To generate early maintenance alerts to reduce machine failures, downtime, and maintenance costs.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01F9B-14DE-F8CE-ABAE-CF7B4CF3F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2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A2C6-36C4-2BB9-85F4-33E4EB092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</a:t>
            </a:r>
            <a:r>
              <a:rPr lang="en-US" b="1" dirty="0"/>
              <a:t>Innovation, Creativity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3388-0273-3043-5E15-C7A18D8E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IN" dirty="0"/>
              <a:t>Combines Edge AI and RTOS to support faster and real-time machine condition monitoring. </a:t>
            </a:r>
          </a:p>
          <a:p>
            <a:pPr lvl="0"/>
            <a:r>
              <a:rPr lang="en-IN" dirty="0"/>
              <a:t>Uses temperature, vibration, and current data together instead of depending on a single sensor. </a:t>
            </a:r>
          </a:p>
          <a:p>
            <a:pPr lvl="0"/>
            <a:r>
              <a:rPr lang="en-IN" dirty="0"/>
              <a:t>Uses RTOS task scheduling and priorities to process sensor data within the required time. </a:t>
            </a:r>
          </a:p>
          <a:p>
            <a:pPr lvl="0"/>
            <a:r>
              <a:rPr lang="en-IN" dirty="0"/>
              <a:t>Uses local Edge AI processing to reduce dependence on cloud-based decision-making. </a:t>
            </a:r>
          </a:p>
          <a:p>
            <a:pPr lvl="0"/>
            <a:r>
              <a:rPr lang="en-IN" dirty="0"/>
              <a:t>Provides early maintenance alerts by detecting abnormal machine conditions before major failure. </a:t>
            </a:r>
          </a:p>
          <a:p>
            <a:pPr lvl="0"/>
            <a:r>
              <a:rPr lang="en-IN" dirty="0"/>
              <a:t>The system is software-based and simulation-driven, making it low-cost, safe, and easy to test without physical industrial equipment.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00DAB-F898-4D12-66A5-3F43EE5D9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10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C7B8-50B3-8096-F85B-6BFAEDDE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 </a:t>
            </a:r>
            <a:r>
              <a:rPr lang="en-IN" b="1" dirty="0"/>
              <a:t>Novelty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4639-F248-CE1F-BA30-D556422E9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683" y="1779797"/>
            <a:ext cx="10515600" cy="4872212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Machine-Failure Prediction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Uses a Random Forest machine-learning model to predict potential machine failure.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Multiple Machine Parameters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Uses temperature, rotational speed, torque, and tool-wear-related parameters together for machine-condition analysis.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Failure Probability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Instead of showing only a failure/non-failure result, the system provides the estimated failure probability.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Machine Health Score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Converts the prediction into an understandable machine-health indication.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Three-Level Condition Classification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The system presents machine condition as: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NORMAL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WARNING</a:t>
            </a:r>
          </a:p>
          <a:p>
            <a:pPr lvl="1"/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CRITICAL</a:t>
            </a:r>
          </a:p>
          <a:p>
            <a:pPr lvl="0"/>
            <a:r>
              <a:rPr lang="en-IN" sz="3300" b="1" dirty="0">
                <a:ea typeface="Calibri" panose="020F0502020204030204" pitchFamily="34" charset="0"/>
                <a:cs typeface="Calibri" panose="020F0502020204030204" pitchFamily="34" charset="0"/>
              </a:rPr>
              <a:t>Explainable AI</a:t>
            </a:r>
            <a:b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300" dirty="0">
                <a:ea typeface="Calibri" panose="020F0502020204030204" pitchFamily="34" charset="0"/>
                <a:cs typeface="Calibri" panose="020F0502020204030204" pitchFamily="34" charset="0"/>
              </a:rPr>
              <a:t>Feature importance helps users understand which machine parameters contribute most to the prediction.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34E16-814B-B3AB-319B-475A269A2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-1"/>
            <a:ext cx="194262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78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9AC4-1F5F-E0B0-2936-63238BFC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210" y="75051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</a:t>
            </a:r>
            <a:r>
              <a:rPr lang="en-US" b="1" dirty="0"/>
              <a:t>Feasibility</a:t>
            </a:r>
            <a:br>
              <a:rPr lang="en-US" b="1" dirty="0"/>
            </a:br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779F0-DD17-AE3C-171F-FD935581D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47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Technical Feasibility</a:t>
            </a:r>
            <a:endParaRPr lang="en-IN" dirty="0"/>
          </a:p>
          <a:p>
            <a:pPr lvl="0"/>
            <a:r>
              <a:rPr lang="en-IN" dirty="0"/>
              <a:t>The project can be developed using RTOS concepts and a software simulation environment.</a:t>
            </a:r>
          </a:p>
          <a:p>
            <a:pPr lvl="0"/>
            <a:r>
              <a:rPr lang="en-IN" dirty="0"/>
              <a:t>Temperature, vibration, and current values can be simulated as sensor data.</a:t>
            </a:r>
          </a:p>
          <a:p>
            <a:pPr lvl="0"/>
            <a:r>
              <a:rPr lang="en-IN" dirty="0"/>
              <a:t>Python and AI/ML techniques can be used for data processing and failure prediction.</a:t>
            </a:r>
          </a:p>
          <a:p>
            <a:pPr lvl="0"/>
            <a:r>
              <a:rPr lang="en-IN" dirty="0"/>
              <a:t>The system can be tested without physical industrial hardware.</a:t>
            </a:r>
          </a:p>
          <a:p>
            <a:pPr marL="0" indent="0">
              <a:buNone/>
            </a:pPr>
            <a:r>
              <a:rPr lang="en-IN" b="1" dirty="0"/>
              <a:t>2. Economic Feasibility</a:t>
            </a:r>
            <a:endParaRPr lang="en-IN" dirty="0"/>
          </a:p>
          <a:p>
            <a:pPr lvl="0"/>
            <a:r>
              <a:rPr lang="en-IN" dirty="0"/>
              <a:t>No additional cost is required for physical sensors, motors, or microcontrollers.</a:t>
            </a:r>
          </a:p>
          <a:p>
            <a:pPr lvl="0"/>
            <a:r>
              <a:rPr lang="en-IN" dirty="0"/>
              <a:t>Open-source software and tools can be used for RTOS simulation and ML development.</a:t>
            </a:r>
          </a:p>
          <a:p>
            <a:pPr lvl="0"/>
            <a:r>
              <a:rPr lang="en-IN" dirty="0"/>
              <a:t>The project can be developed using an existing computer, making it low-cost.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478DE-BA54-6AB5-45D2-5C3950984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99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A04B-24BA-D912-07F0-42BB2017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</a:t>
            </a:r>
            <a:r>
              <a:rPr lang="en-IN" b="1" dirty="0"/>
              <a:t>Oriented with Societal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EE22B-1896-048E-01E0-8431D4777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084"/>
            <a:ext cx="10515600" cy="46208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2900" b="1" dirty="0"/>
              <a:t>Industry Need</a:t>
            </a:r>
          </a:p>
          <a:p>
            <a:r>
              <a:rPr lang="en-IN" sz="2900" dirty="0"/>
              <a:t>Industrial equipment failure can lead to:</a:t>
            </a:r>
          </a:p>
          <a:p>
            <a:pPr lvl="0"/>
            <a:r>
              <a:rPr lang="en-IN" sz="2900" dirty="0"/>
              <a:t>Unexpected machine downtime</a:t>
            </a:r>
          </a:p>
          <a:p>
            <a:pPr lvl="0"/>
            <a:r>
              <a:rPr lang="en-IN" sz="2900" dirty="0"/>
              <a:t>Production interruption</a:t>
            </a:r>
          </a:p>
          <a:p>
            <a:pPr lvl="0"/>
            <a:r>
              <a:rPr lang="en-IN" sz="2900" dirty="0"/>
              <a:t>Increased maintenance costs</a:t>
            </a:r>
          </a:p>
          <a:p>
            <a:pPr lvl="0"/>
            <a:r>
              <a:rPr lang="en-IN" sz="2900" dirty="0"/>
              <a:t>Equipment damage</a:t>
            </a:r>
          </a:p>
          <a:p>
            <a:pPr lvl="0"/>
            <a:r>
              <a:rPr lang="en-IN" sz="2900" dirty="0"/>
              <a:t>Reduced productivity</a:t>
            </a:r>
          </a:p>
          <a:p>
            <a:pPr marL="0" indent="0">
              <a:buNone/>
            </a:pPr>
            <a:r>
              <a:rPr lang="en-IN" sz="2900" dirty="0"/>
              <a:t>The proposed system addresses these needs by using machine-learning-based predictive maintenance to identify possible machine failures before maintenance decisions are made.</a:t>
            </a:r>
          </a:p>
          <a:p>
            <a:pPr marL="0" indent="0">
              <a:buNone/>
            </a:pPr>
            <a:endParaRPr lang="en-IN" sz="2900" dirty="0"/>
          </a:p>
          <a:p>
            <a:pPr marL="0" indent="0">
              <a:buNone/>
            </a:pPr>
            <a:r>
              <a:rPr lang="en-IN" sz="2900" b="1" dirty="0"/>
              <a:t>Human-</a:t>
            </a:r>
            <a:r>
              <a:rPr lang="en-IN" sz="2900" b="1" dirty="0" err="1"/>
              <a:t>Centered</a:t>
            </a:r>
            <a:r>
              <a:rPr lang="en-IN" sz="2900" b="1" dirty="0"/>
              <a:t> Approach</a:t>
            </a:r>
          </a:p>
          <a:p>
            <a:pPr marL="0" indent="0">
              <a:buNone/>
            </a:pPr>
            <a:r>
              <a:rPr lang="en-IN" sz="2900" dirty="0"/>
              <a:t>The system is designed to support maintenance personnel rather than replace human decision-making.</a:t>
            </a:r>
          </a:p>
          <a:p>
            <a:pPr marL="0" indent="0">
              <a:buNone/>
            </a:pPr>
            <a:r>
              <a:rPr lang="en-IN" sz="2900" dirty="0"/>
              <a:t>It provides:</a:t>
            </a:r>
          </a:p>
          <a:p>
            <a:r>
              <a:rPr lang="en-IN" sz="2900" dirty="0"/>
              <a:t>Failure prediction</a:t>
            </a:r>
          </a:p>
          <a:p>
            <a:pPr lvl="0"/>
            <a:r>
              <a:rPr lang="en-IN" sz="2900" dirty="0"/>
              <a:t>Failure probability</a:t>
            </a:r>
          </a:p>
          <a:p>
            <a:pPr lvl="0"/>
            <a:r>
              <a:rPr lang="en-IN" sz="2900" dirty="0"/>
              <a:t>Machine health score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C52CFB-37E2-3A4D-DCD8-33B18D1CC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96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4D7D-8004-DE25-C56F-3505F9D8C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Depth and Quality of Literature Review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9E5AB-CD64-25C1-0F6F-8154CC3D94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N. Ong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Predictive Maintenance for Edge-Based Sensor Networks: A Deep Reinforcement Learning Approach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Edge-based sensor network for equipment monitoring.</a:t>
            </a:r>
          </a:p>
          <a:p>
            <a:pPr lvl="0"/>
            <a:r>
              <a:rPr lang="en-IN" dirty="0"/>
              <a:t>Anomaly detection.</a:t>
            </a:r>
          </a:p>
          <a:p>
            <a:pPr lvl="0"/>
            <a:r>
              <a:rPr lang="en-IN" dirty="0"/>
              <a:t>Deep reinforcement learning for maintenance policy learning.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Edge AI can support predictive maintenance with faster local decision-making.</a:t>
            </a:r>
          </a:p>
          <a:p>
            <a:pPr lvl="0"/>
            <a:r>
              <a:rPr lang="en-IN" dirty="0"/>
              <a:t>Machine-learning methods can be used to identify abnormal equipment conditions.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Focuses mainly on the reinforcement-learning approach.</a:t>
            </a:r>
          </a:p>
          <a:p>
            <a:pPr lvl="0"/>
            <a:r>
              <a:rPr lang="en-IN" dirty="0"/>
              <a:t>Practical implementation on constrained real-time controllers requires further investigation.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F96ED-9105-5DEB-1AA8-739D959A13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M. K.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Resource-efficient Edge AI Solution for Predictive Maintenance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 AI for machine/tool-condition monitoring.</a:t>
            </a:r>
          </a:p>
          <a:p>
            <a:pPr lvl="0"/>
            <a:r>
              <a:rPr lang="en-IN" dirty="0"/>
              <a:t>ML/DL models deployed on resource-constrained hardware.</a:t>
            </a:r>
          </a:p>
          <a:p>
            <a:pPr lvl="0"/>
            <a:r>
              <a:rPr lang="en-IN" dirty="0"/>
              <a:t>Real-time sensor-data processing.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AI models can operate close to industrial equipment.</a:t>
            </a:r>
          </a:p>
          <a:p>
            <a:pPr lvl="0"/>
            <a:r>
              <a:rPr lang="en-IN" dirty="0"/>
              <a:t>Edge processing can reduce dependence on remote processing and support faster maintenance decisions.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Further research is required for broader industrial equipment and highly resource-constrained environments.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F0736-881E-72DE-1E5E-837211A2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75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8F5FAC-81E5-8E2C-0DBA-B591556C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</a:t>
            </a:r>
            <a:r>
              <a:rPr lang="en-IN" b="1" dirty="0"/>
              <a:t>Depth and Quality of Literature Review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AABAE81-89EF-22F4-64B6-5A596748C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Paper 3</a:t>
            </a:r>
          </a:p>
          <a:p>
            <a:r>
              <a:rPr lang="en-IN" b="1" dirty="0"/>
              <a:t>J. Martinez-Gil et al.</a:t>
            </a:r>
            <a:br>
              <a:rPr lang="en-IN" dirty="0"/>
            </a:br>
            <a:r>
              <a:rPr lang="en-IN" b="1" dirty="0"/>
              <a:t>Title:</a:t>
            </a:r>
            <a:r>
              <a:rPr lang="en-IN" dirty="0"/>
              <a:t> </a:t>
            </a:r>
            <a:r>
              <a:rPr lang="en-IN" i="1" dirty="0"/>
              <a:t>An Agentic Framework for Rapid Deployment of Edge AI Solutions in Industry 5.0</a:t>
            </a:r>
            <a:endParaRPr lang="en-IN" dirty="0"/>
          </a:p>
          <a:p>
            <a:r>
              <a:rPr lang="en-IN" b="1" dirty="0"/>
              <a:t>Methodology:</a:t>
            </a:r>
            <a:endParaRPr lang="en-IN" dirty="0"/>
          </a:p>
          <a:p>
            <a:pPr lvl="0"/>
            <a:r>
              <a:rPr lang="en-IN" dirty="0"/>
              <a:t>Edge AI framework for Industry 5.0.</a:t>
            </a:r>
          </a:p>
          <a:p>
            <a:pPr lvl="0"/>
            <a:r>
              <a:rPr lang="en-IN" dirty="0"/>
              <a:t>Local AI inference.</a:t>
            </a:r>
          </a:p>
          <a:p>
            <a:pPr lvl="0"/>
            <a:r>
              <a:rPr lang="en-IN" dirty="0"/>
              <a:t>Modular and agent-based architecture.</a:t>
            </a:r>
          </a:p>
          <a:p>
            <a:r>
              <a:rPr lang="en-IN" b="1" dirty="0"/>
              <a:t>Key Finding:</a:t>
            </a:r>
            <a:endParaRPr lang="en-IN" dirty="0"/>
          </a:p>
          <a:p>
            <a:pPr lvl="0"/>
            <a:r>
              <a:rPr lang="en-IN" dirty="0"/>
              <a:t>Edge AI supports low-latency industrial decision-making.</a:t>
            </a:r>
          </a:p>
          <a:p>
            <a:pPr lvl="0"/>
            <a:r>
              <a:rPr lang="en-IN" dirty="0"/>
              <a:t>Modular architectures can improve flexibility and scalability.</a:t>
            </a:r>
          </a:p>
          <a:p>
            <a:r>
              <a:rPr lang="en-IN" b="1" dirty="0"/>
              <a:t>Limitation:</a:t>
            </a:r>
            <a:endParaRPr lang="en-IN" dirty="0"/>
          </a:p>
          <a:p>
            <a:pPr lvl="0"/>
            <a:r>
              <a:rPr lang="en-IN" dirty="0"/>
              <a:t>Further validation is required across different industrial applications.</a:t>
            </a:r>
          </a:p>
          <a:p>
            <a:r>
              <a:rPr lang="en-IN" dirty="0"/>
              <a:t>This paper is included in your existing Review-1 literature survey. REVIEW 1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9DA0C1-8B79-048A-C2BC-492EB222D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75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69978-D351-87E1-E06B-D51FF735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Critical Analysis and Synthesis of Literature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125C7F-AF55-2353-DC2D-B958381C3C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52454"/>
          <a:ext cx="10515600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0797033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320093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00986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Literature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59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AI-based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30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Edge/local processing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176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Industrial machine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451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Some 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276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Failure probability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757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Machine health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03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Explainable feature importance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9601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What-If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739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Maintenance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818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Human-centered 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Emerging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26066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AEFEE5B-9A74-0FB3-7F71-4D32042F5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61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650C9-7ACB-FA78-5DE3-A5B50F3D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            Synthesis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16DD5-D044-5022-069D-8C7C261EB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From the literature, the following observations can be synthesized:</a:t>
            </a:r>
          </a:p>
          <a:p>
            <a:pPr marL="0" indent="0">
              <a:buNone/>
            </a:pPr>
            <a:endParaRPr lang="en-IN" dirty="0"/>
          </a:p>
          <a:p>
            <a:pPr lvl="0" algn="just"/>
            <a:r>
              <a:rPr lang="en-IN" b="1" dirty="0"/>
              <a:t>AI/ML is useful for predictive maintenance</a:t>
            </a:r>
            <a:r>
              <a:rPr lang="en-IN" dirty="0"/>
              <a:t> and failure detection.</a:t>
            </a:r>
          </a:p>
          <a:p>
            <a:pPr lvl="0" algn="just"/>
            <a:r>
              <a:rPr lang="en-IN" b="1" dirty="0"/>
              <a:t>Edge processing</a:t>
            </a:r>
            <a:r>
              <a:rPr lang="en-IN" dirty="0"/>
              <a:t> is important when faster local decision-making is required. </a:t>
            </a:r>
            <a:r>
              <a:rPr lang="en-IN" dirty="0">
                <a:hlinkClick r:id="rId2"/>
              </a:rPr>
              <a:t>Monash Research</a:t>
            </a:r>
            <a:endParaRPr lang="en-IN" dirty="0"/>
          </a:p>
          <a:p>
            <a:pPr lvl="0" algn="just"/>
            <a:r>
              <a:rPr lang="en-IN" b="1" dirty="0"/>
              <a:t>Multiple machine parameters</a:t>
            </a:r>
            <a:r>
              <a:rPr lang="en-IN" dirty="0"/>
              <a:t> can provide more information about machine condition than relying on a single parameter.</a:t>
            </a:r>
          </a:p>
          <a:p>
            <a:pPr lvl="0" algn="just"/>
            <a:r>
              <a:rPr lang="en-IN" b="1" dirty="0"/>
              <a:t>Interpretability remains important</a:t>
            </a:r>
            <a:r>
              <a:rPr lang="en-IN" dirty="0"/>
              <a:t>, particularly when AI predictions are used for maintenance decisions. Recent reviews identify insufficient XAI and realistic industrial validation as continuing challenges. </a:t>
            </a:r>
            <a:r>
              <a:rPr lang="en-IN" dirty="0">
                <a:hlinkClick r:id="rId3"/>
              </a:rPr>
              <a:t>DOI</a:t>
            </a:r>
            <a:endParaRPr lang="en-IN" dirty="0"/>
          </a:p>
          <a:p>
            <a:pPr lvl="0" algn="just"/>
            <a:r>
              <a:rPr lang="en-IN" dirty="0"/>
              <a:t>Existing research includes sophisticated approaches such as deep learning, reinforcement learning, digital twins, and edge AI, but practical predictive-maintenance applications still need to balance prediction performance, interpretability, computational requirements, and usability.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75920-428B-A651-4E00-D22DAE717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35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EEE9-8125-B693-DAED-09055C38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 </a:t>
            </a:r>
            <a:r>
              <a:rPr lang="en-IN" b="1" dirty="0"/>
              <a:t>Research Gap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3DD53-41A8-83A4-5860-74084DC26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515600" cy="467975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+mj-lt"/>
              </a:rPr>
              <a:t>Gap 1 — Limited Explainability</a:t>
            </a:r>
          </a:p>
          <a:p>
            <a:r>
              <a:rPr lang="en-IN" dirty="0">
                <a:latin typeface="+mj-lt"/>
              </a:rPr>
              <a:t>Many predictive-maintenance studies concentrate on prediction performance, while the reason behind an individual prediction may not always be presented clearly to maintenance users.</a:t>
            </a:r>
          </a:p>
          <a:p>
            <a:r>
              <a:rPr lang="en-IN" b="1" dirty="0">
                <a:latin typeface="+mj-lt"/>
              </a:rPr>
              <a:t>Our approach: </a:t>
            </a:r>
            <a:r>
              <a:rPr lang="en-IN" dirty="0">
                <a:latin typeface="+mj-lt"/>
              </a:rPr>
              <a:t>Provide feature-importance information so users can understand the contribution of machine parameters.</a:t>
            </a:r>
          </a:p>
          <a:p>
            <a:pPr marL="0" indent="0">
              <a:buNone/>
            </a:pPr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2 — Prediction Without Decision Support</a:t>
            </a:r>
          </a:p>
          <a:p>
            <a:r>
              <a:rPr lang="en-IN" dirty="0">
                <a:latin typeface="+mj-lt"/>
              </a:rPr>
              <a:t>A prediction such as failure = 1 may not directly tell the maintenance user what action to take.</a:t>
            </a:r>
          </a:p>
          <a:p>
            <a:r>
              <a:rPr lang="en-IN" b="1" dirty="0">
                <a:latin typeface="+mj-lt"/>
              </a:rPr>
              <a:t>Our approach:   Prediction → Failure Probability → Machine Health → Maintenance Recommendation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3 — Limited What-If Analysis</a:t>
            </a:r>
          </a:p>
          <a:p>
            <a:r>
              <a:rPr lang="en-IN" dirty="0">
                <a:latin typeface="+mj-lt"/>
              </a:rPr>
              <a:t>Conventional predictive-maintenance systems generally evaluate the current machine condition.</a:t>
            </a:r>
          </a:p>
          <a:p>
            <a:r>
              <a:rPr lang="en-IN" b="1" dirty="0">
                <a:latin typeface="+mj-lt"/>
              </a:rPr>
              <a:t>Our approach:</a:t>
            </a:r>
            <a:br>
              <a:rPr lang="en-IN" dirty="0">
                <a:latin typeface="+mj-lt"/>
              </a:rPr>
            </a:br>
            <a:r>
              <a:rPr lang="en-IN" dirty="0">
                <a:latin typeface="+mj-lt"/>
              </a:rPr>
              <a:t>The What-If Analysis allows users to modify input parameters and examine how the predicted machine condition changes.</a:t>
            </a:r>
          </a:p>
          <a:p>
            <a:endParaRPr lang="en-IN" dirty="0">
              <a:latin typeface="+mj-lt"/>
            </a:endParaRPr>
          </a:p>
          <a:p>
            <a:pPr marL="0" indent="0">
              <a:buNone/>
            </a:pPr>
            <a:r>
              <a:rPr lang="en-IN" b="1" dirty="0">
                <a:latin typeface="+mj-lt"/>
              </a:rPr>
              <a:t>Gap 4 — Need for Human-</a:t>
            </a:r>
            <a:r>
              <a:rPr lang="en-IN" b="1" dirty="0" err="1">
                <a:latin typeface="+mj-lt"/>
              </a:rPr>
              <a:t>Centered</a:t>
            </a:r>
            <a:r>
              <a:rPr lang="en-IN" b="1" dirty="0">
                <a:latin typeface="+mj-lt"/>
              </a:rPr>
              <a:t> Interaction</a:t>
            </a:r>
          </a:p>
          <a:p>
            <a:pPr algn="just"/>
            <a:r>
              <a:rPr lang="en-IN" dirty="0">
                <a:latin typeface="+mj-lt"/>
              </a:rPr>
              <a:t>Industry 5.0 emphasizes human-machine collaboration. A prediction system should therefore present AI results in an understandable form rather than only displaying raw model outputs.</a:t>
            </a:r>
          </a:p>
          <a:p>
            <a:r>
              <a:rPr lang="en-IN" b="1" dirty="0">
                <a:latin typeface="+mj-lt"/>
              </a:rPr>
              <a:t>Our approach:  </a:t>
            </a:r>
            <a:r>
              <a:rPr lang="en-IN" dirty="0">
                <a:latin typeface="+mj-lt"/>
              </a:rPr>
              <a:t>Provide NORMAL, WARNING, and CRITICAL conditions together with health information and recommendations.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85CBE1-BBD0-ECF0-84AF-1D7B10F4B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44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1305</Words>
  <Application>Microsoft Office PowerPoint</Application>
  <PresentationFormat>Widescreen</PresentationFormat>
  <Paragraphs>189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                                    Objectives </vt:lpstr>
      <vt:lpstr>                   Innovation, Creativity </vt:lpstr>
      <vt:lpstr>                             Novelty of the Project</vt:lpstr>
      <vt:lpstr>               Feasibility   </vt:lpstr>
      <vt:lpstr>            Oriented with Societal Needs</vt:lpstr>
      <vt:lpstr> Depth and Quality of Literature Review</vt:lpstr>
      <vt:lpstr>         Depth and Quality of Literature Review</vt:lpstr>
      <vt:lpstr>Critical Analysis and Synthesis of Literature</vt:lpstr>
      <vt:lpstr>                                 Synthesis </vt:lpstr>
      <vt:lpstr>                            Research Gap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Vinusha 2420030212</cp:lastModifiedBy>
  <cp:revision>34</cp:revision>
  <dcterms:created xsi:type="dcterms:W3CDTF">2026-08-08T06:33:56Z</dcterms:created>
  <dcterms:modified xsi:type="dcterms:W3CDTF">2026-10-01T07:24:27Z</dcterms:modified>
</cp:coreProperties>
</file>